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  <p:sldMasterId id="2147483675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6858000" cy="9144000"/>
  <p:embeddedFontLst>
    <p:embeddedFont>
      <p:font typeface="IBM Plex Sans" panose="020B0503050203000203" pitchFamily="34" charset="0"/>
      <p:regular r:id="rId14"/>
      <p:bold r:id="rId15"/>
      <p:italic r:id="rId16"/>
      <p:boldItalic r:id="rId17"/>
    </p:embeddedFont>
    <p:embeddedFont>
      <p:font typeface="Tahoma" panose="020B0604030504040204" pitchFamily="34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B21A3FB-3E10-4B57-B6FF-C917B430570D}">
  <a:tblStyle styleId="{FB21A3FB-3E10-4B57-B6FF-C917B430570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7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d0462cdbc_1_2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ed0462cdbc_1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d0462cdbc_1_2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3ed0462cdbc_1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d0462cdbc_1_2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3ed0462cdbc_1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d0462cdbc_1_2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3ed0462cdbc_1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d0462cdbc_1_2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3ed0462cdbc_1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d0462cdbc_1_2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d0462cdbc_1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d0462cdbc_1_2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ed0462cdbc_1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d0462cdbc_1_2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g3ed0462cdbc_1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d0462cdbc_1_2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1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3ed0462cdbc_1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122719" y="114965"/>
            <a:ext cx="56112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880861" y="1279047"/>
            <a:ext cx="3799500" cy="11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700" b="0" i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3108960" y="4783454"/>
            <a:ext cx="29259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457200" y="4783454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595863" y="4953905"/>
            <a:ext cx="4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88900" lvl="0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8900" lvl="1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88900" lvl="2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88900" lvl="3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88900" lvl="4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88900" lvl="5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88900" lvl="6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88900" lvl="7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88900" lvl="8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889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 / 14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300"/>
          </a:xfrm>
          <a:prstGeom prst="rect">
            <a:avLst/>
          </a:prstGeom>
        </p:spPr>
        <p:txBody>
          <a:bodyPr spcFirstLastPara="1" wrap="square" lIns="91400" tIns="91400" rIns="91400" bIns="914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75" tIns="144975" rIns="144975" bIns="1449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00" tIns="91400" rIns="91400" bIns="914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00" tIns="91400" rIns="91400" bIns="914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00" tIns="91400" rIns="91400" bIns="914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311700" y="1111201"/>
            <a:ext cx="8520600" cy="572400"/>
          </a:xfrm>
          <a:prstGeom prst="rect">
            <a:avLst/>
          </a:prstGeom>
        </p:spPr>
        <p:txBody>
          <a:bodyPr spcFirstLastPara="1" wrap="square" lIns="91400" tIns="91400" rIns="91400" bIns="914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75" tIns="144975" rIns="144975" bIns="144975" anchor="ctr" anchorCtr="0">
            <a:no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00" tIns="91400" rIns="91400" bIns="914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311700" y="1111201"/>
            <a:ext cx="8520600" cy="572400"/>
          </a:xfrm>
          <a:prstGeom prst="rect">
            <a:avLst/>
          </a:prstGeom>
        </p:spPr>
        <p:txBody>
          <a:bodyPr spcFirstLastPara="1" wrap="square" lIns="91400" tIns="91400" rIns="91400" bIns="914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75" tIns="144975" rIns="144975" bIns="14497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75" tIns="144975" rIns="144975" bIns="14497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00" tIns="91400" rIns="91400" bIns="914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>
            <a:spLocks noGrp="1"/>
          </p:cNvSpPr>
          <p:nvPr>
            <p:ph type="title"/>
          </p:nvPr>
        </p:nvSpPr>
        <p:spPr>
          <a:xfrm>
            <a:off x="311700" y="1111201"/>
            <a:ext cx="8520600" cy="572400"/>
          </a:xfrm>
          <a:prstGeom prst="rect">
            <a:avLst/>
          </a:prstGeom>
        </p:spPr>
        <p:txBody>
          <a:bodyPr spcFirstLastPara="1" wrap="square" lIns="91400" tIns="91400" rIns="91400" bIns="914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00" tIns="91400" rIns="91400" bIns="914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00" tIns="91400" rIns="91400" bIns="914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75" tIns="144975" rIns="144975" bIns="144975" anchor="ctr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00" tIns="91400" rIns="91400" bIns="914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500"/>
          </a:xfrm>
          <a:prstGeom prst="rect">
            <a:avLst/>
          </a:prstGeom>
        </p:spPr>
        <p:txBody>
          <a:bodyPr spcFirstLastPara="1" wrap="square" lIns="91400" tIns="91400" rIns="91400" bIns="914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6" name="Google Shape;86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00" tIns="91400" rIns="91400" bIns="914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/>
          <p:nvPr/>
        </p:nvSpPr>
        <p:spPr>
          <a:xfrm>
            <a:off x="4572000" y="-125"/>
            <a:ext cx="45723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4900" cy="1482300"/>
          </a:xfrm>
          <a:prstGeom prst="rect">
            <a:avLst/>
          </a:prstGeom>
        </p:spPr>
        <p:txBody>
          <a:bodyPr spcFirstLastPara="1" wrap="square" lIns="91400" tIns="91400" rIns="91400" bIns="914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>
            <a:endParaRPr/>
          </a:p>
        </p:txBody>
      </p:sp>
      <p:sp>
        <p:nvSpPr>
          <p:cNvPr id="90" name="Google Shape;90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49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75" tIns="144975" rIns="144975" bIns="1449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75" tIns="144975" rIns="144975" bIns="144975" anchor="ctr" anchorCtr="0">
            <a:no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endParaRPr/>
          </a:p>
        </p:txBody>
      </p:sp>
      <p:sp>
        <p:nvSpPr>
          <p:cNvPr id="92" name="Google Shape;92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00" tIns="91400" rIns="91400" bIns="914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9100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75" tIns="144975" rIns="144975" bIns="14497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</a:lstStyle>
          <a:p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00" tIns="91400" rIns="91400" bIns="914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00" tIns="91400" rIns="91400" bIns="914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9pPr>
          </a:lstStyle>
          <a:p>
            <a:r>
              <a:t>xx%</a:t>
            </a:r>
          </a:p>
        </p:txBody>
      </p:sp>
      <p:sp>
        <p:nvSpPr>
          <p:cNvPr id="98" name="Google Shape;98;p2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975" tIns="144975" rIns="144975" bIns="144975" anchor="ctr" anchorCtr="0">
            <a:noAutofit/>
          </a:bodyPr>
          <a:lstStyle>
            <a:lvl1pPr marL="457200" lvl="0" indent="-3683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683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marL="1371600" lvl="2" indent="-3683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00" tIns="91400" rIns="91400" bIns="914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00" tIns="91400" rIns="91400" bIns="914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6"/>
          <p:cNvSpPr txBox="1">
            <a:spLocks noGrp="1"/>
          </p:cNvSpPr>
          <p:nvPr>
            <p:ph type="title"/>
          </p:nvPr>
        </p:nvSpPr>
        <p:spPr>
          <a:xfrm>
            <a:off x="122719" y="114965"/>
            <a:ext cx="56112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900"/>
              <a:buNone/>
              <a:defRPr sz="2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6"/>
          <p:cNvSpPr txBox="1">
            <a:spLocks noGrp="1"/>
          </p:cNvSpPr>
          <p:nvPr>
            <p:ph type="body" idx="1"/>
          </p:nvPr>
        </p:nvSpPr>
        <p:spPr>
          <a:xfrm>
            <a:off x="4880861" y="1279047"/>
            <a:ext cx="3799500" cy="11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1700" b="0" i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05" name="Google Shape;105;p26"/>
          <p:cNvSpPr txBox="1">
            <a:spLocks noGrp="1"/>
          </p:cNvSpPr>
          <p:nvPr>
            <p:ph type="ftr" idx="11"/>
          </p:nvPr>
        </p:nvSpPr>
        <p:spPr>
          <a:xfrm>
            <a:off x="3108960" y="4783454"/>
            <a:ext cx="29259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dt" idx="10"/>
          </p:nvPr>
        </p:nvSpPr>
        <p:spPr>
          <a:xfrm>
            <a:off x="457200" y="4783454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07" name="Google Shape;107;p26"/>
          <p:cNvSpPr txBox="1">
            <a:spLocks noGrp="1"/>
          </p:cNvSpPr>
          <p:nvPr>
            <p:ph type="sldNum" idx="12"/>
          </p:nvPr>
        </p:nvSpPr>
        <p:spPr>
          <a:xfrm>
            <a:off x="8595863" y="4953905"/>
            <a:ext cx="4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88900" lvl="0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8900" lvl="1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88900" lvl="2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88900" lvl="3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88900" lvl="4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88900" lvl="5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88900" lvl="6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88900" lvl="7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88900" lvl="8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889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 / 14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 txBox="1">
            <a:spLocks noGrp="1"/>
          </p:cNvSpPr>
          <p:nvPr>
            <p:ph type="ftr" idx="11"/>
          </p:nvPr>
        </p:nvSpPr>
        <p:spPr>
          <a:xfrm>
            <a:off x="3108960" y="4783454"/>
            <a:ext cx="29259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10" name="Google Shape;110;p27"/>
          <p:cNvSpPr txBox="1">
            <a:spLocks noGrp="1"/>
          </p:cNvSpPr>
          <p:nvPr>
            <p:ph type="dt" idx="10"/>
          </p:nvPr>
        </p:nvSpPr>
        <p:spPr>
          <a:xfrm>
            <a:off x="457200" y="4783454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11" name="Google Shape;111;p27"/>
          <p:cNvSpPr txBox="1">
            <a:spLocks noGrp="1"/>
          </p:cNvSpPr>
          <p:nvPr>
            <p:ph type="sldNum" idx="12"/>
          </p:nvPr>
        </p:nvSpPr>
        <p:spPr>
          <a:xfrm>
            <a:off x="8595863" y="4953905"/>
            <a:ext cx="4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88900" lvl="0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8900" lvl="1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88900" lvl="2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88900" lvl="3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88900" lvl="4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88900" lvl="5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88900" lvl="6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88900" lvl="7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88900" lvl="8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889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 / 14</a:t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8"/>
          <p:cNvSpPr txBox="1">
            <a:spLocks noGrp="1"/>
          </p:cNvSpPr>
          <p:nvPr>
            <p:ph type="title"/>
          </p:nvPr>
        </p:nvSpPr>
        <p:spPr>
          <a:xfrm>
            <a:off x="122719" y="114965"/>
            <a:ext cx="56112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900"/>
              <a:buNone/>
              <a:defRPr sz="2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8"/>
          <p:cNvSpPr txBox="1">
            <a:spLocks noGrp="1"/>
          </p:cNvSpPr>
          <p:nvPr>
            <p:ph type="ftr" idx="11"/>
          </p:nvPr>
        </p:nvSpPr>
        <p:spPr>
          <a:xfrm>
            <a:off x="3108960" y="4783454"/>
            <a:ext cx="29259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15" name="Google Shape;115;p28"/>
          <p:cNvSpPr txBox="1">
            <a:spLocks noGrp="1"/>
          </p:cNvSpPr>
          <p:nvPr>
            <p:ph type="dt" idx="10"/>
          </p:nvPr>
        </p:nvSpPr>
        <p:spPr>
          <a:xfrm>
            <a:off x="457200" y="4783454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16" name="Google Shape;116;p28"/>
          <p:cNvSpPr txBox="1">
            <a:spLocks noGrp="1"/>
          </p:cNvSpPr>
          <p:nvPr>
            <p:ph type="sldNum" idx="12"/>
          </p:nvPr>
        </p:nvSpPr>
        <p:spPr>
          <a:xfrm>
            <a:off x="8595863" y="4953905"/>
            <a:ext cx="4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88900" lvl="0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8900" lvl="1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88900" lvl="2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88900" lvl="3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88900" lvl="4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88900" lvl="5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88900" lvl="6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88900" lvl="7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88900" lvl="8" indent="0">
              <a:lnSpc>
                <a:spcPct val="1125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889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 / 14</a:t>
            </a:r>
            <a:endParaRPr/>
          </a:p>
        </p:txBody>
      </p:sp>
      <p:pic>
        <p:nvPicPr>
          <p:cNvPr id="117" name="Google Shape;117;p28" title="Picture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1692" y="114962"/>
            <a:ext cx="1762106" cy="666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6850" y="85874"/>
            <a:ext cx="1781604" cy="724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311700" y="1111201"/>
            <a:ext cx="8520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9" name="Google Shape;59;p14" title="Picture1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41692" y="114962"/>
            <a:ext cx="1762106" cy="666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 title="Gap2@2x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911675" y="150650"/>
            <a:ext cx="920625" cy="9102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yberguard-mauve.vercel.app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 txBox="1">
            <a:spLocks noGrp="1"/>
          </p:cNvSpPr>
          <p:nvPr>
            <p:ph type="ctrTitle"/>
          </p:nvPr>
        </p:nvSpPr>
        <p:spPr>
          <a:xfrm>
            <a:off x="311708" y="60070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Title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GTU SBTP -2026 (Subject Code: DI05000011)</a:t>
            </a:r>
            <a:endParaRPr sz="2800"/>
          </a:p>
        </p:txBody>
      </p:sp>
      <p:sp>
        <p:nvSpPr>
          <p:cNvPr id="124" name="Google Shape;124;p29"/>
          <p:cNvSpPr txBox="1">
            <a:spLocks noGrp="1"/>
          </p:cNvSpPr>
          <p:nvPr>
            <p:ph type="subTitle" idx="1"/>
          </p:nvPr>
        </p:nvSpPr>
        <p:spPr>
          <a:xfrm>
            <a:off x="965175" y="27823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400" b="1" dirty="0">
                <a:solidFill>
                  <a:srgbClr val="351C75"/>
                </a:solidFill>
              </a:rPr>
              <a:t>Student Name : Vasaya Mahammad Taki Liyakat Bhai</a:t>
            </a:r>
            <a:endParaRPr sz="1400" b="1" dirty="0">
              <a:solidFill>
                <a:srgbClr val="351C75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400" b="1" dirty="0">
                <a:solidFill>
                  <a:srgbClr val="351C75"/>
                </a:solidFill>
              </a:rPr>
              <a:t>Enrollment no.: 246490316231</a:t>
            </a:r>
            <a:endParaRPr sz="1400" b="1" dirty="0">
              <a:solidFill>
                <a:srgbClr val="351C75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400" b="1" dirty="0">
                <a:solidFill>
                  <a:srgbClr val="351C75"/>
                </a:solidFill>
              </a:rPr>
              <a:t>College Name : Sir Bhavsinhji Polytechnic Institute Bhavnagar</a:t>
            </a:r>
            <a:endParaRPr sz="1400" b="1" dirty="0">
              <a:solidFill>
                <a:srgbClr val="351C75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400" b="1" dirty="0">
                <a:solidFill>
                  <a:srgbClr val="351C75"/>
                </a:solidFill>
              </a:rPr>
              <a:t>Branch and Year : Information &amp; Technology : 2024</a:t>
            </a:r>
            <a:endParaRPr sz="1400" b="1" dirty="0">
              <a:solidFill>
                <a:srgbClr val="351C75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400" b="1" dirty="0">
                <a:solidFill>
                  <a:srgbClr val="351C75"/>
                </a:solidFill>
              </a:rPr>
              <a:t>Branch code: 16</a:t>
            </a:r>
            <a:endParaRPr sz="1400" b="1" dirty="0">
              <a:solidFill>
                <a:srgbClr val="351C75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400" b="1" dirty="0">
                <a:solidFill>
                  <a:srgbClr val="351C75"/>
                </a:solidFill>
              </a:rPr>
              <a:t>Gender : Male</a:t>
            </a:r>
            <a:endParaRPr sz="1400" b="1" dirty="0">
              <a:solidFill>
                <a:srgbClr val="351C75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400" b="1" dirty="0">
                <a:solidFill>
                  <a:srgbClr val="351C75"/>
                </a:solidFill>
              </a:rPr>
              <a:t>Registered Mail ID : mahammadvasaya@gmail.com</a:t>
            </a:r>
            <a:endParaRPr sz="1400" b="1" dirty="0">
              <a:solidFill>
                <a:srgbClr val="351C75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400" b="1" dirty="0">
                <a:solidFill>
                  <a:srgbClr val="351C75"/>
                </a:solidFill>
              </a:rPr>
              <a:t>Contact No. 7573997110</a:t>
            </a:r>
            <a:endParaRPr sz="1400" b="1" dirty="0">
              <a:solidFill>
                <a:srgbClr val="351C75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endParaRPr sz="700" dirty="0">
              <a:solidFill>
                <a:srgbClr val="351C75"/>
              </a:solidFill>
            </a:endParaRPr>
          </a:p>
        </p:txBody>
      </p:sp>
      <p:pic>
        <p:nvPicPr>
          <p:cNvPr id="125" name="Google Shape;125;p29" title="BharatCares_Original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12" y="150656"/>
            <a:ext cx="1585431" cy="616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9" title="Gap2@2x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11675" y="150650"/>
            <a:ext cx="920625" cy="91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0"/>
          <p:cNvSpPr txBox="1"/>
          <p:nvPr/>
        </p:nvSpPr>
        <p:spPr>
          <a:xfrm>
            <a:off x="502214" y="1195533"/>
            <a:ext cx="801540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/>
              <a:t>What did you learned in this Program?</a:t>
            </a:r>
            <a:endParaRPr sz="25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C902D0-2B67-117D-42B6-8C4B771AA25D}"/>
              </a:ext>
            </a:extLst>
          </p:cNvPr>
          <p:cNvSpPr txBox="1"/>
          <p:nvPr/>
        </p:nvSpPr>
        <p:spPr>
          <a:xfrm>
            <a:off x="435769" y="1916642"/>
            <a:ext cx="827960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effectLst/>
                <a:latin typeface="Google Sans Text"/>
              </a:rPr>
              <a:t>Modern Web Architecture:</a:t>
            </a:r>
            <a:r>
              <a:rPr lang="en-IN" sz="1800" dirty="0">
                <a:effectLst/>
                <a:latin typeface="Google Sans Text"/>
              </a:rPr>
              <a:t> Gained hands-on experience in building </a:t>
            </a:r>
            <a:r>
              <a:rPr lang="en-IN" sz="1800" dirty="0">
                <a:latin typeface="Google Sans Text"/>
              </a:rPr>
              <a:t>light</a:t>
            </a:r>
            <a:r>
              <a:rPr lang="en-IN" sz="1800" dirty="0">
                <a:effectLst/>
                <a:latin typeface="Google Sans Text"/>
              </a:rPr>
              <a:t>-themed, responsive web interfaces using cutting-edge frontend technologies. </a:t>
            </a:r>
          </a:p>
          <a:p>
            <a:pPr>
              <a:buNone/>
            </a:pPr>
            <a:r>
              <a:rPr lang="en-IN" sz="1800" b="1" dirty="0">
                <a:effectLst/>
                <a:latin typeface="Google Sans Text"/>
              </a:rPr>
              <a:t>AI-Assisted Development:</a:t>
            </a:r>
            <a:r>
              <a:rPr lang="en-IN" sz="1800" dirty="0">
                <a:effectLst/>
                <a:latin typeface="Google Sans Text"/>
              </a:rPr>
              <a:t> Mastered the art of rapid prototyping and UI component engineering using advanced AI tools like Claude, v0, and Gemini. </a:t>
            </a:r>
          </a:p>
          <a:p>
            <a:pPr>
              <a:buNone/>
            </a:pPr>
            <a:r>
              <a:rPr lang="en-IN" sz="1800" b="1" dirty="0">
                <a:effectLst/>
                <a:latin typeface="Google Sans Text"/>
              </a:rPr>
              <a:t>Cybersecurity Paradigms:</a:t>
            </a:r>
            <a:r>
              <a:rPr lang="en-IN" sz="1800" dirty="0">
                <a:effectLst/>
                <a:latin typeface="Google Sans Text"/>
              </a:rPr>
              <a:t> Learned how to design threat monitoring dashboards, simulate automated risk assessments, and understand real-time notification architectures. </a:t>
            </a:r>
          </a:p>
          <a:p>
            <a:pPr>
              <a:buNone/>
            </a:pPr>
            <a:r>
              <a:rPr lang="en-IN" sz="1800" b="1" dirty="0">
                <a:effectLst/>
                <a:latin typeface="Google Sans Text"/>
              </a:rPr>
              <a:t>Industry Standards:</a:t>
            </a:r>
            <a:r>
              <a:rPr lang="en-IN" sz="1800" dirty="0">
                <a:effectLst/>
                <a:latin typeface="Google Sans Text"/>
              </a:rPr>
              <a:t> Understood software development lifecycles, version control via Git, and modern hosting workflows during the computer science internship.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1"/>
          <p:cNvSpPr txBox="1"/>
          <p:nvPr/>
        </p:nvSpPr>
        <p:spPr>
          <a:xfrm>
            <a:off x="576950" y="1121024"/>
            <a:ext cx="7990200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05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latin typeface="IBM Plex Sans"/>
                <a:ea typeface="IBM Plex Sans"/>
                <a:cs typeface="IBM Plex Sans"/>
                <a:sym typeface="IBM Plex Sans"/>
              </a:rPr>
              <a:t> Project Purpose (Why do you made this project?)</a:t>
            </a:r>
            <a:endParaRPr sz="2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ABEB7D-9FC7-43F1-4403-7D625DBAAC44}"/>
              </a:ext>
            </a:extLst>
          </p:cNvPr>
          <p:cNvSpPr txBox="1"/>
          <p:nvPr/>
        </p:nvSpPr>
        <p:spPr>
          <a:xfrm>
            <a:off x="541132" y="1912707"/>
            <a:ext cx="8510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effectLst/>
                <a:latin typeface="Google Sans Text"/>
              </a:rPr>
              <a:t>Addressing Rising Threats:</a:t>
            </a:r>
            <a:r>
              <a:rPr lang="en-IN" sz="1800" dirty="0">
                <a:effectLst/>
                <a:latin typeface="Google Sans Text"/>
              </a:rPr>
              <a:t> To create a centralized solution that helps organizations defend against sophisticated cyber attacks, phishing, and continuous security exploits. </a:t>
            </a:r>
          </a:p>
          <a:p>
            <a:pPr>
              <a:buNone/>
            </a:pPr>
            <a:r>
              <a:rPr lang="en-IN" sz="1800" b="1" dirty="0">
                <a:effectLst/>
                <a:latin typeface="Google Sans Text"/>
              </a:rPr>
              <a:t>Simplifying Security Monitoring:</a:t>
            </a:r>
            <a:r>
              <a:rPr lang="en-IN" sz="1800" dirty="0">
                <a:effectLst/>
                <a:latin typeface="Google Sans Text"/>
              </a:rPr>
              <a:t> To lower the barrier for small to medium enterprises (SMBs) to monitor their domains, open ports, and data breaches without complex setups. </a:t>
            </a:r>
          </a:p>
          <a:p>
            <a:pPr>
              <a:buNone/>
            </a:pPr>
            <a:r>
              <a:rPr lang="en-IN" sz="1800" b="1" dirty="0">
                <a:effectLst/>
                <a:latin typeface="Google Sans Text"/>
              </a:rPr>
              <a:t>Proactive Threat Prevention:</a:t>
            </a:r>
            <a:r>
              <a:rPr lang="en-IN" sz="1800" dirty="0">
                <a:effectLst/>
                <a:latin typeface="Google Sans Text"/>
              </a:rPr>
              <a:t> Shift from a reactive security posture to a proactive, real-time alerting approach to minimize financial and data losses.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2"/>
          <p:cNvSpPr txBox="1"/>
          <p:nvPr/>
        </p:nvSpPr>
        <p:spPr>
          <a:xfrm>
            <a:off x="502216" y="986306"/>
            <a:ext cx="824310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latin typeface="IBM Plex Sans"/>
                <a:ea typeface="IBM Plex Sans"/>
                <a:cs typeface="IBM Plex Sans"/>
                <a:sym typeface="IBM Plex Sans"/>
              </a:rPr>
              <a:t>Project Objectives (What do you made in this project)</a:t>
            </a:r>
            <a:endParaRPr sz="2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7697E8-0DA7-E6A7-4241-F14FB077F780}"/>
              </a:ext>
            </a:extLst>
          </p:cNvPr>
          <p:cNvSpPr txBox="1"/>
          <p:nvPr/>
        </p:nvSpPr>
        <p:spPr>
          <a:xfrm>
            <a:off x="300038" y="1828219"/>
            <a:ext cx="869394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 err="1">
                <a:effectLst/>
                <a:latin typeface="Google Sans Text"/>
              </a:rPr>
              <a:t>CyberGuard</a:t>
            </a:r>
            <a:r>
              <a:rPr lang="en-IN" sz="1800" b="1" dirty="0">
                <a:effectLst/>
                <a:latin typeface="Google Sans Text"/>
              </a:rPr>
              <a:t> Platform:</a:t>
            </a:r>
            <a:r>
              <a:rPr lang="en-IN" sz="1800" dirty="0">
                <a:effectLst/>
                <a:latin typeface="Google Sans Text"/>
              </a:rPr>
              <a:t> Developed a comprehensive cybersecurity monitoring dashboard featuring responsive threat visualization cards and status trackers. </a:t>
            </a:r>
          </a:p>
          <a:p>
            <a:pPr>
              <a:buNone/>
            </a:pPr>
            <a:r>
              <a:rPr lang="en-IN" sz="1800" b="1" dirty="0">
                <a:effectLst/>
                <a:latin typeface="Google Sans Text"/>
              </a:rPr>
              <a:t>Infrastructure Scanner Simulation:</a:t>
            </a:r>
            <a:r>
              <a:rPr lang="en-IN" sz="1800" dirty="0">
                <a:effectLst/>
                <a:latin typeface="Google Sans Text"/>
              </a:rPr>
              <a:t> Designed interfaces to showcase continuous domain monitoring, SSL certificate tracking, and subdomain enumeration. </a:t>
            </a:r>
          </a:p>
          <a:p>
            <a:pPr>
              <a:buNone/>
            </a:pPr>
            <a:r>
              <a:rPr lang="en-IN" sz="1800" b="1" dirty="0">
                <a:effectLst/>
                <a:latin typeface="Google Sans Text"/>
              </a:rPr>
              <a:t>Smart Analytics &amp; Notifications:</a:t>
            </a:r>
            <a:r>
              <a:rPr lang="en-IN" sz="1800" dirty="0">
                <a:effectLst/>
                <a:latin typeface="Google Sans Text"/>
              </a:rPr>
              <a:t> Integrated simulated AI-assisted security analysis and structured real-time alert systems (such as email/SMS notification flows).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3"/>
          <p:cNvSpPr txBox="1"/>
          <p:nvPr/>
        </p:nvSpPr>
        <p:spPr>
          <a:xfrm>
            <a:off x="502214" y="739423"/>
            <a:ext cx="8015400" cy="7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>
                <a:latin typeface="IBM Plex Sans"/>
                <a:ea typeface="IBM Plex Sans"/>
                <a:cs typeface="IBM Plex Sans"/>
                <a:sym typeface="IBM Plex Sans"/>
              </a:rPr>
              <a:t>Structure of Your project (What are the steps you follows?)</a:t>
            </a:r>
            <a:endParaRPr sz="2500" dirty="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BE37EB-F2B5-02C5-1DE1-47B1F608B92E}"/>
              </a:ext>
            </a:extLst>
          </p:cNvPr>
          <p:cNvSpPr txBox="1"/>
          <p:nvPr/>
        </p:nvSpPr>
        <p:spPr>
          <a:xfrm>
            <a:off x="423632" y="1667560"/>
            <a:ext cx="7108031" cy="3547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effectLst/>
                <a:latin typeface="Google Sans Text"/>
              </a:rPr>
              <a:t>Requirement Gathering &amp; UI Wireframing:</a:t>
            </a:r>
            <a:r>
              <a:rPr lang="en-IN" sz="1800" dirty="0">
                <a:effectLst/>
                <a:latin typeface="Google Sans Text"/>
              </a:rPr>
              <a:t> Defined user journeys for security teams and conceptualized layout components using </a:t>
            </a:r>
            <a:r>
              <a:rPr lang="en-IN" sz="1800" dirty="0" err="1">
                <a:effectLst/>
                <a:latin typeface="Google Sans Text"/>
              </a:rPr>
              <a:t>Vercel's</a:t>
            </a:r>
            <a:r>
              <a:rPr lang="en-IN" sz="1800" dirty="0">
                <a:effectLst/>
                <a:latin typeface="Google Sans Text"/>
              </a:rPr>
              <a:t> v0. </a:t>
            </a:r>
          </a:p>
          <a:p>
            <a:pPr>
              <a:buNone/>
            </a:pPr>
            <a:r>
              <a:rPr lang="en-IN" sz="1800" b="1" dirty="0">
                <a:effectLst/>
                <a:latin typeface="Google Sans Text"/>
              </a:rPr>
              <a:t>Frontend Layout Generation:</a:t>
            </a:r>
            <a:r>
              <a:rPr lang="en-IN" sz="1800" dirty="0">
                <a:effectLst/>
                <a:latin typeface="Google Sans Text"/>
              </a:rPr>
              <a:t> Structured the web pages using a dark cyber-theme, implementing interactive pricing grids, features sections, and real-time metric indicators. </a:t>
            </a:r>
          </a:p>
          <a:p>
            <a:pPr>
              <a:buNone/>
            </a:pPr>
            <a:r>
              <a:rPr lang="en-IN" sz="1800" b="1" dirty="0">
                <a:effectLst/>
                <a:latin typeface="Google Sans Text"/>
              </a:rPr>
              <a:t>Code Optimization via LLMs:</a:t>
            </a:r>
            <a:r>
              <a:rPr lang="en-IN" sz="1800" dirty="0">
                <a:effectLst/>
                <a:latin typeface="Google Sans Text"/>
              </a:rPr>
              <a:t> Leveraged Claude and Gemini to debug </a:t>
            </a:r>
            <a:r>
              <a:rPr lang="en-IN" sz="1800" dirty="0" err="1">
                <a:effectLst/>
                <a:latin typeface="Google Sans Text"/>
              </a:rPr>
              <a:t>Javascript</a:t>
            </a:r>
            <a:r>
              <a:rPr lang="en-IN" sz="1800" dirty="0">
                <a:effectLst/>
                <a:latin typeface="Google Sans Text"/>
              </a:rPr>
              <a:t> logic, streamline CSS styles, and optimize component performance. </a:t>
            </a:r>
          </a:p>
          <a:p>
            <a:pPr>
              <a:buNone/>
            </a:pPr>
            <a:r>
              <a:rPr lang="en-IN" sz="1800" b="1" dirty="0">
                <a:effectLst/>
                <a:latin typeface="Google Sans Text"/>
              </a:rPr>
              <a:t>Version Control &amp; Repository Management:</a:t>
            </a:r>
            <a:r>
              <a:rPr lang="en-IN" sz="1800" dirty="0">
                <a:effectLst/>
                <a:latin typeface="Google Sans Text"/>
              </a:rPr>
              <a:t> Managed code changes incrementally and maintained collaboration via GitHub.</a:t>
            </a:r>
          </a:p>
          <a:p>
            <a:pPr>
              <a:buNone/>
            </a:pPr>
            <a:r>
              <a:rPr lang="en-IN" sz="1800" b="1" dirty="0">
                <a:effectLst/>
                <a:latin typeface="Google Sans Text"/>
              </a:rPr>
              <a:t>Continuous Deployment:</a:t>
            </a:r>
            <a:r>
              <a:rPr lang="en-IN" sz="1800" dirty="0">
                <a:effectLst/>
                <a:latin typeface="Google Sans Text"/>
              </a:rPr>
              <a:t> Hosted the live application on </a:t>
            </a:r>
            <a:r>
              <a:rPr lang="en-IN" sz="1800" dirty="0" err="1">
                <a:effectLst/>
                <a:latin typeface="Google Sans Text"/>
              </a:rPr>
              <a:t>Vercel</a:t>
            </a:r>
            <a:r>
              <a:rPr lang="en-IN" sz="1800" dirty="0">
                <a:effectLst/>
                <a:latin typeface="Google Sans Text"/>
              </a:rPr>
              <a:t> for rapid feedback loops and global accessibility.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4"/>
          <p:cNvSpPr txBox="1"/>
          <p:nvPr/>
        </p:nvSpPr>
        <p:spPr>
          <a:xfrm>
            <a:off x="502214" y="1056048"/>
            <a:ext cx="801540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/>
              <a:t>Git Hub Link for Project</a:t>
            </a:r>
            <a:endParaRPr sz="2500" dirty="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2" name="Google Shape;152;p34"/>
          <p:cNvSpPr txBox="1"/>
          <p:nvPr/>
        </p:nvSpPr>
        <p:spPr>
          <a:xfrm>
            <a:off x="502214" y="1754762"/>
            <a:ext cx="71187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IN" sz="2200" b="1" u="sng" dirty="0">
                <a:solidFill>
                  <a:schemeClr val="hlink"/>
                </a:solidFill>
              </a:rPr>
              <a:t>https://github.com/mahammadvasaya43-sys/Cyberguard.git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057BC3-71C7-8416-4AE6-2B7992B8D626}"/>
              </a:ext>
            </a:extLst>
          </p:cNvPr>
          <p:cNvSpPr txBox="1"/>
          <p:nvPr/>
        </p:nvSpPr>
        <p:spPr>
          <a:xfrm>
            <a:off x="502214" y="3774076"/>
            <a:ext cx="5429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hlinkClick r:id="rId3"/>
              </a:rPr>
              <a:t>https://cyberguard-mauve.vercel.app/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F242EC-F248-051A-72CE-A6885BE8E12D}"/>
              </a:ext>
            </a:extLst>
          </p:cNvPr>
          <p:cNvSpPr txBox="1"/>
          <p:nvPr/>
        </p:nvSpPr>
        <p:spPr>
          <a:xfrm>
            <a:off x="502214" y="307479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Live Prototype URL</a:t>
            </a:r>
            <a:endParaRPr lang="en-IN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5"/>
          <p:cNvSpPr txBox="1"/>
          <p:nvPr/>
        </p:nvSpPr>
        <p:spPr>
          <a:xfrm>
            <a:off x="563109" y="843191"/>
            <a:ext cx="801540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/>
              <a:t>Advantages and Limitations of Your Project</a:t>
            </a:r>
            <a:endParaRPr sz="2500" dirty="0"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158" name="Google Shape;158;p35"/>
          <p:cNvGraphicFramePr/>
          <p:nvPr>
            <p:extLst>
              <p:ext uri="{D42A27DB-BD31-4B8C-83A1-F6EECF244321}">
                <p14:modId xmlns:p14="http://schemas.microsoft.com/office/powerpoint/2010/main" val="259453671"/>
              </p:ext>
            </p:extLst>
          </p:nvPr>
        </p:nvGraphicFramePr>
        <p:xfrm>
          <a:off x="563109" y="1409700"/>
          <a:ext cx="7241381" cy="3810370"/>
        </p:xfrm>
        <a:graphic>
          <a:graphicData uri="http://schemas.openxmlformats.org/drawingml/2006/table">
            <a:tbl>
              <a:tblPr>
                <a:noFill/>
                <a:tableStyleId>{FB21A3FB-3E10-4B57-B6FF-C917B430570D}</a:tableStyleId>
              </a:tblPr>
              <a:tblGrid>
                <a:gridCol w="3621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ADVANTAGES 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LIMITATIONS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500">
                <a:tc>
                  <a:txBody>
                    <a:bodyPr/>
                    <a:lstStyle/>
                    <a:p>
                      <a:r>
                        <a:rPr lang="en-IN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High </a:t>
                      </a:r>
                      <a:r>
                        <a:rPr lang="en-IN" sz="14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Scannability</a:t>
                      </a:r>
                      <a:r>
                        <a:rPr lang="en-IN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Clean, intuitive UI allowing security professionals to interpret system health instantly.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1" dirty="0"/>
                        <a:t>Frontend Focus:</a:t>
                      </a:r>
                      <a:r>
                        <a:rPr lang="en-IN" dirty="0"/>
                        <a:t> The current prototype focuses heavily on client-side simulation; deep backend scanning modules require further integration. 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500">
                <a:tc>
                  <a:txBody>
                    <a:bodyPr/>
                    <a:lstStyle/>
                    <a:p>
                      <a:r>
                        <a:rPr lang="en-IN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AI Accelerated:</a:t>
                      </a:r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Developed at a fraction of the traditional development time using AI-driven coding models.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Third-Party Dependencies:</a:t>
                      </a:r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Highly reliant on cloud-hosted AI APIs and external network infrastructures for real-time validation data.</a:t>
                      </a:r>
                      <a:r>
                        <a:rPr lang="en-IN" dirty="0"/>
                        <a:t> 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Highly Responsive:</a:t>
                      </a:r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Completely optimized layout for both desktop and mobile monitoring workflows.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6"/>
          <p:cNvSpPr txBox="1"/>
          <p:nvPr/>
        </p:nvSpPr>
        <p:spPr>
          <a:xfrm>
            <a:off x="499995" y="1019466"/>
            <a:ext cx="801540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/>
              <a:t>Challenges you faced (What difficulties you face?)</a:t>
            </a:r>
            <a:endParaRPr sz="2500" dirty="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E664A9-5682-4ABA-1184-2BDFA365A91D}"/>
              </a:ext>
            </a:extLst>
          </p:cNvPr>
          <p:cNvSpPr txBox="1"/>
          <p:nvPr/>
        </p:nvSpPr>
        <p:spPr>
          <a:xfrm>
            <a:off x="499995" y="1870412"/>
            <a:ext cx="824395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effectLst/>
                <a:latin typeface="Google Sans Text"/>
              </a:rPr>
              <a:t>Prompt Engineering Alignment:</a:t>
            </a:r>
            <a:r>
              <a:rPr lang="en-IN" sz="1800" dirty="0">
                <a:effectLst/>
                <a:latin typeface="Google Sans Text"/>
              </a:rPr>
              <a:t> Directing AI engines (v0 and Claude) to generate exact custom styling layouts required careful iteration and precise instruction formatting. </a:t>
            </a:r>
          </a:p>
          <a:p>
            <a:pPr>
              <a:buNone/>
            </a:pPr>
            <a:r>
              <a:rPr lang="en-IN" sz="1800" b="1" dirty="0">
                <a:effectLst/>
                <a:latin typeface="Google Sans Text"/>
              </a:rPr>
              <a:t>Data Aggregation Visualization:</a:t>
            </a:r>
            <a:r>
              <a:rPr lang="en-IN" sz="1800" dirty="0">
                <a:effectLst/>
                <a:latin typeface="Google Sans Text"/>
              </a:rPr>
              <a:t> Effectively mapping complex security metrics (e.g., risk scoring, open ports data) into simple, clean UI panels without cluttering the screen. </a:t>
            </a:r>
          </a:p>
          <a:p>
            <a:pPr>
              <a:buNone/>
            </a:pPr>
            <a:r>
              <a:rPr lang="en-IN" sz="1800" b="1" dirty="0">
                <a:effectLst/>
                <a:latin typeface="Google Sans Text"/>
              </a:rPr>
              <a:t>Deployment Synchronization:</a:t>
            </a:r>
            <a:r>
              <a:rPr lang="en-IN" sz="1800" dirty="0">
                <a:effectLst/>
                <a:latin typeface="Google Sans Text"/>
              </a:rPr>
              <a:t> Overcoming initial environment pathing and routing issues while setting up the deployment matrix on </a:t>
            </a:r>
            <a:r>
              <a:rPr lang="en-IN" sz="1800" dirty="0" err="1">
                <a:effectLst/>
                <a:latin typeface="Google Sans Text"/>
              </a:rPr>
              <a:t>Vercel</a:t>
            </a:r>
            <a:r>
              <a:rPr lang="en-IN" sz="1800" dirty="0">
                <a:effectLst/>
                <a:latin typeface="Google Sans Text"/>
              </a:rPr>
              <a:t>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7"/>
          <p:cNvSpPr txBox="1"/>
          <p:nvPr/>
        </p:nvSpPr>
        <p:spPr>
          <a:xfrm>
            <a:off x="564289" y="1069234"/>
            <a:ext cx="801540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/>
              <a:t>Conclusion</a:t>
            </a:r>
            <a:endParaRPr sz="25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C68BF6-30EF-C78D-E309-E5F34E6D0B11}"/>
              </a:ext>
            </a:extLst>
          </p:cNvPr>
          <p:cNvSpPr txBox="1"/>
          <p:nvPr/>
        </p:nvSpPr>
        <p:spPr>
          <a:xfrm>
            <a:off x="507138" y="1848416"/>
            <a:ext cx="85797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effectLst/>
                <a:latin typeface="Google Sans Text"/>
              </a:rPr>
              <a:t>Successful Prototyping:</a:t>
            </a:r>
            <a:r>
              <a:rPr lang="en-IN" sz="1800" dirty="0">
                <a:effectLst/>
                <a:latin typeface="Google Sans Text"/>
              </a:rPr>
              <a:t> Successfully built and deployed a modern, interactive cybersecurity landing platform utilizing state-of-the-art AI development tools. </a:t>
            </a:r>
          </a:p>
          <a:p>
            <a:pPr>
              <a:buNone/>
            </a:pPr>
            <a:r>
              <a:rPr lang="en-IN" sz="1800" b="1" dirty="0">
                <a:effectLst/>
                <a:latin typeface="Google Sans Text"/>
              </a:rPr>
              <a:t>Skill Growth:</a:t>
            </a:r>
            <a:r>
              <a:rPr lang="en-IN" sz="1800" dirty="0">
                <a:effectLst/>
                <a:latin typeface="Google Sans Text"/>
              </a:rPr>
              <a:t> Successfully bridged the gap between theoretical IT knowledge and industry-level frontend development workflows during the internship. </a:t>
            </a:r>
          </a:p>
          <a:p>
            <a:pPr>
              <a:buNone/>
            </a:pPr>
            <a:r>
              <a:rPr lang="en-IN" sz="1800" b="1" dirty="0">
                <a:effectLst/>
                <a:latin typeface="Google Sans Text"/>
              </a:rPr>
              <a:t>Future Outlook:</a:t>
            </a:r>
            <a:r>
              <a:rPr lang="en-IN" sz="1800" dirty="0">
                <a:effectLst/>
                <a:latin typeface="Google Sans Text"/>
              </a:rPr>
              <a:t> The foundation laid by </a:t>
            </a:r>
            <a:r>
              <a:rPr lang="en-IN" sz="1800" dirty="0" err="1">
                <a:effectLst/>
                <a:latin typeface="Google Sans Text"/>
              </a:rPr>
              <a:t>CyberGuard</a:t>
            </a:r>
            <a:r>
              <a:rPr lang="en-IN" sz="1800" dirty="0">
                <a:effectLst/>
                <a:latin typeface="Google Sans Text"/>
              </a:rPr>
              <a:t> establishes a solid framework for incorporating production-ready machine learning models and automated network scripts in future iterations.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8"/>
          <p:cNvSpPr txBox="1"/>
          <p:nvPr/>
        </p:nvSpPr>
        <p:spPr>
          <a:xfrm>
            <a:off x="2552400" y="1168152"/>
            <a:ext cx="4039200" cy="45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150" rIns="0" bIns="0" anchor="t" anchorCtr="0">
            <a:spAutoFit/>
          </a:bodyPr>
          <a:lstStyle/>
          <a:p>
            <a:pPr marL="254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Arial"/>
                <a:ea typeface="Arial"/>
                <a:cs typeface="Arial"/>
                <a:sym typeface="Arial"/>
              </a:rPr>
              <a:t>Thank You </a:t>
            </a:r>
            <a:endParaRPr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8C6600-FBC7-7634-CE3F-C360E4F503E0}"/>
              </a:ext>
            </a:extLst>
          </p:cNvPr>
          <p:cNvSpPr txBox="1"/>
          <p:nvPr/>
        </p:nvSpPr>
        <p:spPr>
          <a:xfrm>
            <a:off x="107156" y="2094697"/>
            <a:ext cx="892968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Questions?</a:t>
            </a:r>
          </a:p>
          <a:p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Contact Information:</a:t>
            </a:r>
            <a:r>
              <a:rPr lang="en-IN" sz="2000" dirty="0"/>
              <a:t> mahammadvasaya@gmail.com | +91 7573997110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725</Words>
  <Application>Microsoft Office PowerPoint</Application>
  <PresentationFormat>On-screen Show (16:9)</PresentationFormat>
  <Paragraphs>53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IBM Plex Sans</vt:lpstr>
      <vt:lpstr>Arial</vt:lpstr>
      <vt:lpstr>Google Sans Text</vt:lpstr>
      <vt:lpstr>Tahoma</vt:lpstr>
      <vt:lpstr>Simple Light</vt:lpstr>
      <vt:lpstr>Simple Light</vt:lpstr>
      <vt:lpstr>Project Title GTU SBTP -2026 (Subject Code: DI05000011)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Mahammad Vasaya</cp:lastModifiedBy>
  <cp:revision>3</cp:revision>
  <dcterms:modified xsi:type="dcterms:W3CDTF">2026-06-29T16:13:15Z</dcterms:modified>
</cp:coreProperties>
</file>